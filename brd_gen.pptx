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rial Bold" charset="1" panose="020B0704020202020204"/>
      <p:regular r:id="rId11"/>
    </p:embeddedFont>
    <p:embeddedFont>
      <p:font typeface="Arial Bold Italics" charset="1" panose="020B0704020202090204"/>
      <p:regular r:id="rId12"/>
    </p:embeddedFont>
    <p:embeddedFont>
      <p:font typeface="Arial" charset="1" panose="020B0604020202020204"/>
      <p:regular r:id="rId13"/>
    </p:embeddedFont>
    <p:embeddedFont>
      <p:font typeface="Canva Sans" charset="1" panose="020B0503030501040103"/>
      <p:regular r:id="rId14"/>
    </p:embeddedFont>
    <p:embeddedFont>
      <p:font typeface="Arial Italics" charset="1" panose="020B0604020202090204"/>
      <p:regular r:id="rId15"/>
    </p:embeddedFont>
    <p:embeddedFont>
      <p:font typeface="Mukti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10" cy="10287000"/>
            <a:chOff x="0" y="0"/>
            <a:chExt cx="2438401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592449" y="5254285"/>
            <a:ext cx="11101902" cy="154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b="true" sz="8500">
                <a:solidFill>
                  <a:srgbClr val="09C9F7"/>
                </a:solidFill>
                <a:latin typeface="Arial Bold"/>
                <a:ea typeface="Arial Bold"/>
                <a:cs typeface="Arial Bold"/>
                <a:sym typeface="Arial Bold"/>
              </a:rPr>
              <a:t>IDEA SUBMISSION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51230" y="3038599"/>
            <a:ext cx="13384901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5"/>
              </a:lnSpc>
            </a:pPr>
            <a:r>
              <a:rPr lang="en-US" b="true" sz="7438" i="true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ORION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47514" y="4453661"/>
            <a:ext cx="5191897" cy="1034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4"/>
              </a:lnSpc>
            </a:pPr>
            <a:r>
              <a:rPr lang="en-US" b="true" sz="5312">
                <a:solidFill>
                  <a:srgbClr val="09C9F7"/>
                </a:solidFill>
                <a:latin typeface="Arial Bold"/>
                <a:ea typeface="Arial Bold"/>
                <a:cs typeface="Arial Bold"/>
                <a:sym typeface="Arial Bold"/>
              </a:rPr>
              <a:t>Round 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91154" y="8968902"/>
            <a:ext cx="4705055" cy="603847"/>
            <a:chOff x="0" y="0"/>
            <a:chExt cx="6273406" cy="8051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73419" cy="805180"/>
            </a:xfrm>
            <a:custGeom>
              <a:avLst/>
              <a:gdLst/>
              <a:ahLst/>
              <a:cxnLst/>
              <a:rect r="r" b="b" t="t" l="l"/>
              <a:pathLst>
                <a:path h="805180" w="6273419">
                  <a:moveTo>
                    <a:pt x="0" y="0"/>
                  </a:moveTo>
                  <a:lnTo>
                    <a:pt x="6273419" y="0"/>
                  </a:lnTo>
                  <a:lnTo>
                    <a:pt x="6273419" y="805180"/>
                  </a:lnTo>
                  <a:lnTo>
                    <a:pt x="0" y="80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10" cy="10287000"/>
            <a:chOff x="0" y="0"/>
            <a:chExt cx="2438401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20920" y="2532183"/>
            <a:ext cx="7757551" cy="97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09C9F7"/>
                </a:solidFill>
                <a:latin typeface="Arial Bold"/>
                <a:ea typeface="Arial Bold"/>
                <a:cs typeface="Arial Bold"/>
                <a:sym typeface="Arial Bold"/>
              </a:rPr>
              <a:t>Team Details: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670550" y="3669030"/>
          <a:ext cx="14808732" cy="2948940"/>
        </p:xfrm>
        <a:graphic>
          <a:graphicData uri="http://schemas.openxmlformats.org/drawingml/2006/table">
            <a:tbl>
              <a:tblPr/>
              <a:tblGrid>
                <a:gridCol w="823229"/>
                <a:gridCol w="4627004"/>
                <a:gridCol w="3352134"/>
                <a:gridCol w="6006365"/>
              </a:tblGrid>
              <a:tr h="7372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 no.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Team Member Name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Team Member Role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Team Member Mail ID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2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Aashi Agarwal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Frontend Developer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ail.aashiagr@gmail.in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2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2.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Samarpita Das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 Developer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samarpitabdas@gmail.com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2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 Engineer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ujjawalbisht@gmail.coujjawalbisht@gmail.comm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6791154" y="8968902"/>
            <a:ext cx="4705055" cy="603847"/>
            <a:chOff x="0" y="0"/>
            <a:chExt cx="6273406" cy="8051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73419" cy="805180"/>
            </a:xfrm>
            <a:custGeom>
              <a:avLst/>
              <a:gdLst/>
              <a:ahLst/>
              <a:cxnLst/>
              <a:rect r="r" b="b" t="t" l="l"/>
              <a:pathLst>
                <a:path h="805180" w="6273419">
                  <a:moveTo>
                    <a:pt x="0" y="0"/>
                  </a:moveTo>
                  <a:lnTo>
                    <a:pt x="6273419" y="0"/>
                  </a:lnTo>
                  <a:lnTo>
                    <a:pt x="6273419" y="805180"/>
                  </a:lnTo>
                  <a:lnTo>
                    <a:pt x="0" y="80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70550" y="5980289"/>
            <a:ext cx="3509825" cy="37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20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Ujjawal Bisht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10982" y="5980289"/>
            <a:ext cx="3509825" cy="37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20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ujjawalbisht@gmail.com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10" cy="10287000"/>
            <a:chOff x="0" y="0"/>
            <a:chExt cx="2438401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20920" y="2532174"/>
            <a:ext cx="11564550" cy="97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09C9F7"/>
                </a:solidFill>
                <a:latin typeface="Arial Bold"/>
                <a:ea typeface="Arial Bold"/>
                <a:cs typeface="Arial Bold"/>
                <a:sym typeface="Arial Bold"/>
              </a:rPr>
              <a:t>Track Chosen: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3274" y="3623348"/>
            <a:ext cx="14840550" cy="97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b="true" sz="2799">
                <a:solidFill>
                  <a:srgbClr val="EEEEEE"/>
                </a:solidFill>
                <a:latin typeface="Arial Bold"/>
                <a:ea typeface="Arial Bold"/>
                <a:cs typeface="Arial Bold"/>
                <a:sym typeface="Arial Bold"/>
              </a:rPr>
              <a:t>Track Chosen:</a:t>
            </a:r>
            <a:r>
              <a:rPr lang="en-US" sz="2799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 Business Requirements Document (BRD) Generation Agent</a:t>
            </a:r>
          </a:p>
          <a:p>
            <a:pPr algn="l">
              <a:lnSpc>
                <a:spcPts val="386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20901" y="5215871"/>
            <a:ext cx="11564550" cy="97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09C9F7"/>
                </a:solidFill>
                <a:latin typeface="Arial Bold"/>
                <a:ea typeface="Arial Bold"/>
                <a:cs typeface="Arial Bold"/>
                <a:sym typeface="Arial Bold"/>
              </a:rPr>
              <a:t>Problem Description: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3406" y="6407782"/>
            <a:ext cx="14840550" cy="145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 i="true">
                <a:solidFill>
                  <a:srgbClr val="EEEEEE"/>
                </a:solidFill>
                <a:latin typeface="Arial Italics"/>
                <a:ea typeface="Arial Italics"/>
                <a:cs typeface="Arial Italics"/>
                <a:sym typeface="Arial Italics"/>
              </a:rPr>
              <a:t>Teams waste days gathering requirements from fragmented communications across Gmail, Slack, and documents. Critical details get lost, conflicts go undetected, and traceability is nearly impossible.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791154" y="8968902"/>
            <a:ext cx="4705055" cy="603847"/>
            <a:chOff x="0" y="0"/>
            <a:chExt cx="6273406" cy="8051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73419" cy="805180"/>
            </a:xfrm>
            <a:custGeom>
              <a:avLst/>
              <a:gdLst/>
              <a:ahLst/>
              <a:cxnLst/>
              <a:rect r="r" b="b" t="t" l="l"/>
              <a:pathLst>
                <a:path h="805180" w="6273419">
                  <a:moveTo>
                    <a:pt x="0" y="0"/>
                  </a:moveTo>
                  <a:lnTo>
                    <a:pt x="6273419" y="0"/>
                  </a:lnTo>
                  <a:lnTo>
                    <a:pt x="6273419" y="805180"/>
                  </a:lnTo>
                  <a:lnTo>
                    <a:pt x="0" y="80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6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10" cy="10287000"/>
            <a:chOff x="0" y="0"/>
            <a:chExt cx="2438401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38249" y="1814481"/>
            <a:ext cx="115645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>
                <a:solidFill>
                  <a:srgbClr val="09C9F7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8249" y="2714271"/>
            <a:ext cx="14840550" cy="97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 i="true">
                <a:solidFill>
                  <a:srgbClr val="EEEEEE"/>
                </a:solidFill>
                <a:latin typeface="Arial Italics"/>
                <a:ea typeface="Arial Italics"/>
                <a:cs typeface="Arial Italics"/>
                <a:sym typeface="Arial Italics"/>
              </a:rPr>
              <a:t>Ou</a:t>
            </a:r>
            <a:r>
              <a:rPr lang="en-US" sz="2799" i="true">
                <a:solidFill>
                  <a:srgbClr val="EEEEEE"/>
                </a:solidFill>
                <a:latin typeface="Arial Italics"/>
                <a:ea typeface="Arial Italics"/>
                <a:cs typeface="Arial Italics"/>
                <a:sym typeface="Arial Italics"/>
              </a:rPr>
              <a:t>r platform handles the entire BRD lifecycle with six core capabi</a:t>
            </a:r>
            <a:r>
              <a:rPr lang="en-US" sz="2799" i="true">
                <a:solidFill>
                  <a:srgbClr val="EEEEEE"/>
                </a:solidFill>
                <a:latin typeface="Arial Italics"/>
                <a:ea typeface="Arial Italics"/>
                <a:cs typeface="Arial Italics"/>
                <a:sym typeface="Arial Italics"/>
              </a:rPr>
              <a:t>lities powered by transformer models and intelligent algorithms.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791154" y="8968902"/>
            <a:ext cx="4705055" cy="603847"/>
            <a:chOff x="0" y="0"/>
            <a:chExt cx="6273406" cy="8051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73419" cy="805180"/>
            </a:xfrm>
            <a:custGeom>
              <a:avLst/>
              <a:gdLst/>
              <a:ahLst/>
              <a:cxnLst/>
              <a:rect r="r" b="b" t="t" l="l"/>
              <a:pathLst>
                <a:path h="805180" w="6273419">
                  <a:moveTo>
                    <a:pt x="0" y="0"/>
                  </a:moveTo>
                  <a:lnTo>
                    <a:pt x="6273419" y="0"/>
                  </a:lnTo>
                  <a:lnTo>
                    <a:pt x="6273419" y="805180"/>
                  </a:lnTo>
                  <a:lnTo>
                    <a:pt x="0" y="80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6"/>
              </a:stretch>
            </a:blipFill>
          </p:spPr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38249" y="4132617"/>
          <a:ext cx="16230600" cy="3953827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  <a:gridCol w="5410200"/>
              </a:tblGrid>
              <a:tr h="20206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u="sng" b="true">
                          <a:solidFill>
                            <a:srgbClr val="000000"/>
                          </a:solidFill>
                          <a:latin typeface="Mukti"/>
                          <a:ea typeface="Mukti"/>
                          <a:cs typeface="Mukti"/>
                          <a:sym typeface="Mukti"/>
                        </a:rPr>
                        <a:t>Multi-Source Integration</a:t>
                      </a:r>
                      <a:endParaRPr lang="en-US" sz="1100"/>
                    </a:p>
                    <a:p>
                      <a:pPr algn="l">
                        <a:lnSpc>
                          <a:spcPts val="2660"/>
                        </a:lnSpc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Mukti"/>
                          <a:ea typeface="Mukti"/>
                          <a:cs typeface="Mukti"/>
                          <a:sym typeface="Mukti"/>
                        </a:rPr>
                        <a:t>Connect Gmail, Slack, and upload documents with full OAuth2 security</a:t>
                      </a:r>
                    </a:p>
                    <a:p>
                      <a:pPr algn="l">
                        <a:lnSpc>
                          <a:spcPts val="266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C9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b="true" sz="2100" u="sng">
                          <a:solidFill>
                            <a:srgbClr val="FFFFFF"/>
                          </a:solidFill>
                          <a:latin typeface="Mukti"/>
                          <a:ea typeface="Mukti"/>
                          <a:cs typeface="Mukti"/>
                          <a:sym typeface="Mukti"/>
                        </a:rPr>
                        <a:t>Intelligent Noise Filtering</a:t>
                      </a:r>
                      <a:endParaRPr lang="en-US" sz="1100"/>
                    </a:p>
                    <a:p>
                      <a:pPr algn="l">
                        <a:lnSpc>
                          <a:spcPts val="2660"/>
                        </a:lnSpc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Mukti"/>
                          <a:ea typeface="Mukti"/>
                          <a:cs typeface="Mukti"/>
                          <a:sym typeface="Mukti"/>
                        </a:rPr>
                        <a:t>BERT-based classification removes irrelevant content automatically</a:t>
                      </a:r>
                    </a:p>
                    <a:p>
                      <a:pPr algn="l">
                        <a:lnSpc>
                          <a:spcPts val="266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u="sng" b="true">
                          <a:solidFill>
                            <a:srgbClr val="000000"/>
                          </a:solidFill>
                          <a:latin typeface="Mukti"/>
                          <a:ea typeface="Mukti"/>
                          <a:cs typeface="Mukti"/>
                          <a:sym typeface="Mukti"/>
                        </a:rPr>
                        <a:t>Smart Requirement Extraction</a:t>
                      </a:r>
                      <a:endParaRPr lang="en-US" sz="1100"/>
                    </a:p>
                    <a:p>
                      <a:pPr algn="l">
                        <a:lnSpc>
                          <a:spcPts val="2660"/>
                        </a:lnSpc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Mukti"/>
                          <a:ea typeface="Mukti"/>
                          <a:cs typeface="Mukti"/>
                          <a:sym typeface="Mukti"/>
                        </a:rPr>
                        <a:t>Transformer models categorize and structure requirements with confidence scoring</a:t>
                      </a:r>
                    </a:p>
                    <a:p>
                      <a:pPr algn="l">
                        <a:lnSpc>
                          <a:spcPts val="266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C9F7"/>
                    </a:solidFill>
                  </a:tcPr>
                </a:tc>
              </a:tr>
              <a:tr h="19331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u="sng">
                          <a:solidFill>
                            <a:srgbClr val="FFFFFF"/>
                          </a:solidFill>
                          <a:latin typeface="Mukti"/>
                          <a:ea typeface="Mukti"/>
                          <a:cs typeface="Mukti"/>
                          <a:sym typeface="Mukti"/>
                        </a:rPr>
                        <a:t>Structured BRD Generation</a:t>
                      </a:r>
                      <a:endParaRPr lang="en-US" sz="1100"/>
                    </a:p>
                    <a:p>
                      <a:pPr algn="l">
                        <a:lnSpc>
                          <a:spcPts val="2660"/>
                        </a:lnSpc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Mukti"/>
                          <a:ea typeface="Mukti"/>
                          <a:cs typeface="Mukti"/>
                          <a:sym typeface="Mukti"/>
                        </a:rPr>
                        <a:t>BART and T5 models create comprehensive documents with all standard sections</a:t>
                      </a:r>
                    </a:p>
                    <a:p>
                      <a:pPr algn="l">
                        <a:lnSpc>
                          <a:spcPts val="266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u="sng">
                          <a:solidFill>
                            <a:srgbClr val="000000"/>
                          </a:solidFill>
                          <a:latin typeface="Mukti"/>
                          <a:ea typeface="Mukti"/>
                          <a:cs typeface="Mukti"/>
                          <a:sym typeface="Mukti"/>
                        </a:rPr>
                        <a:t>Conflict Detection</a:t>
                      </a:r>
                      <a:endParaRPr lang="en-US" sz="1100"/>
                    </a:p>
                    <a:p>
                      <a:pPr algn="l">
                        <a:lnSpc>
                          <a:spcPts val="266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Mukti"/>
                          <a:ea typeface="Mukti"/>
                          <a:cs typeface="Mukti"/>
                          <a:sym typeface="Mukti"/>
                        </a:rPr>
                        <a:t>Semantic similarity analysis identifies contradictions and incompatibilities</a:t>
                      </a:r>
                    </a:p>
                    <a:p>
                      <a:pPr algn="l">
                        <a:lnSpc>
                          <a:spcPts val="266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C9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u="sng">
                          <a:solidFill>
                            <a:srgbClr val="FFFFFF"/>
                          </a:solidFill>
                          <a:latin typeface="Mukti"/>
                          <a:ea typeface="Mukti"/>
                          <a:cs typeface="Mukti"/>
                          <a:sym typeface="Mukti"/>
                        </a:rPr>
                        <a:t>Natural Language Editing</a:t>
                      </a:r>
                      <a:endParaRPr lang="en-US" sz="1100"/>
                    </a:p>
                    <a:p>
                      <a:pPr algn="l">
                        <a:lnSpc>
                          <a:spcPts val="2660"/>
                        </a:lnSpc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Mukti"/>
                          <a:ea typeface="Mukti"/>
                          <a:cs typeface="Mukti"/>
                          <a:sym typeface="Mukti"/>
                        </a:rPr>
                        <a:t>T5-powered interface lets users refine documents conversationally</a:t>
                      </a:r>
                    </a:p>
                    <a:p>
                      <a:pPr algn="l">
                        <a:lnSpc>
                          <a:spcPts val="266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10" cy="10287000"/>
            <a:chOff x="0" y="0"/>
            <a:chExt cx="2438401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91473" y="9130827"/>
            <a:ext cx="4705055" cy="603847"/>
            <a:chOff x="0" y="0"/>
            <a:chExt cx="6273406" cy="8051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73419" cy="805180"/>
            </a:xfrm>
            <a:custGeom>
              <a:avLst/>
              <a:gdLst/>
              <a:ahLst/>
              <a:cxnLst/>
              <a:rect r="r" b="b" t="t" l="l"/>
              <a:pathLst>
                <a:path h="805180" w="6273419">
                  <a:moveTo>
                    <a:pt x="0" y="0"/>
                  </a:moveTo>
                  <a:lnTo>
                    <a:pt x="6273419" y="0"/>
                  </a:lnTo>
                  <a:lnTo>
                    <a:pt x="6273419" y="805180"/>
                  </a:lnTo>
                  <a:lnTo>
                    <a:pt x="0" y="80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6"/>
              </a:stretch>
            </a:blip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420920" y="2720502"/>
          <a:ext cx="15281586" cy="6248400"/>
        </p:xfrm>
        <a:graphic>
          <a:graphicData uri="http://schemas.openxmlformats.org/drawingml/2006/table">
            <a:tbl>
              <a:tblPr/>
              <a:tblGrid>
                <a:gridCol w="5093862"/>
                <a:gridCol w="5093862"/>
                <a:gridCol w="5093862"/>
              </a:tblGrid>
              <a:tr h="10254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Intelligent Processing Layer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8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8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Frontend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8EF"/>
                    </a:solidFill>
                  </a:tcPr>
                </a:tc>
              </a:tr>
              <a:tr h="52229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Noise Filtering (DistilBERT + Hybrid Scoring)</a:t>
                      </a: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lang="en-US" sz="1100"/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60% keyword + 40% semantic analysis removes low-relevance content (&lt;0.4 threshold).</a:t>
                      </a:r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Zero-Shot Classification (BART-large-MNLI)</a:t>
                      </a: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Automatically categorizes requirements without training data.</a:t>
                      </a:r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Conflict Detection Engine</a:t>
                      </a: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Embedding-based similarity (&gt;0.7) detects contradictions and priority/resource conflicts with efficient pairwise comparison (O(n log n)).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Django REST API (Modular 3-Layer Design)</a:t>
                      </a:r>
                      <a:endParaRPr lang="en-US" sz="1100"/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ML Layer</a:t>
                      </a: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RequirementExtractor, BRDGenerator, ConflictDetector (cached model loading)</a:t>
                      </a:r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ntegrations Layer</a:t>
                      </a: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</a:t>
                      </a:r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Gmail OAuth2 &amp; Slack Bot authentication with rate limiting</a:t>
                      </a:r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Data Layer</a:t>
                      </a: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SQLite (dev), PostgreSQL (prod) with full audit logging</a:t>
                      </a:r>
                    </a:p>
                    <a:p>
                      <a:pPr algn="l">
                        <a:lnSpc>
                          <a:spcPts val="2519"/>
                        </a:lnSpc>
                      </a:pPr>
                    </a:p>
                    <a:p>
                      <a:pPr algn="l">
                        <a:lnSpc>
                          <a:spcPts val="2519"/>
                        </a:lnSpc>
                      </a:pPr>
                    </a:p>
                    <a:p>
                      <a:pPr algn="l">
                        <a:lnSpc>
                          <a:spcPts val="251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PyQt5 Desktop App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Project management, data configuration, requirement review, BRD generation, and real-time conflict analysis.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420920" y="1790558"/>
            <a:ext cx="115645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9C9F7"/>
                </a:solidFill>
                <a:latin typeface="Arial"/>
                <a:ea typeface="Arial"/>
                <a:cs typeface="Arial"/>
                <a:sym typeface="Arial"/>
              </a:rPr>
              <a:t>Technical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DAHBxaMderQ</dc:identifier>
  <dcterms:modified xsi:type="dcterms:W3CDTF">2011-08-01T06:04:30Z</dcterms:modified>
  <cp:revision>1</cp:revision>
  <dc:title>ORION_HackFest2_IdeaSubmission</dc:title>
</cp:coreProperties>
</file>